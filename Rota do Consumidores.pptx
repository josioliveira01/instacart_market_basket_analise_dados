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2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iane de Oliveira da Silva" userId="49a9965a1d12b599" providerId="LiveId" clId="{E7DD9BE0-B092-4A03-9F49-2B22F9590239}"/>
    <pc:docChg chg="modSld">
      <pc:chgData name="Josiane de Oliveira da Silva" userId="49a9965a1d12b599" providerId="LiveId" clId="{E7DD9BE0-B092-4A03-9F49-2B22F9590239}" dt="2026-02-27T14:26:07.643" v="0" actId="20577"/>
      <pc:docMkLst>
        <pc:docMk/>
      </pc:docMkLst>
      <pc:sldChg chg="modSp mod">
        <pc:chgData name="Josiane de Oliveira da Silva" userId="49a9965a1d12b599" providerId="LiveId" clId="{E7DD9BE0-B092-4A03-9F49-2B22F9590239}" dt="2026-02-27T14:26:07.643" v="0" actId="20577"/>
        <pc:sldMkLst>
          <pc:docMk/>
          <pc:sldMk cId="3018617536" sldId="256"/>
        </pc:sldMkLst>
        <pc:spChg chg="mod">
          <ac:chgData name="Josiane de Oliveira da Silva" userId="49a9965a1d12b599" providerId="LiveId" clId="{E7DD9BE0-B092-4A03-9F49-2B22F9590239}" dt="2026-02-27T14:26:07.643" v="0" actId="20577"/>
          <ac:spMkLst>
            <pc:docMk/>
            <pc:sldMk cId="3018617536" sldId="256"/>
            <ac:spMk id="2" creationId="{DCA0ABCF-7DDF-E52E-7329-6466A2FE4E2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519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4188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9336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6638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3480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5624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0719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9508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8562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0560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912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198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2" r:id="rId6"/>
    <p:sldLayoutId id="2147483728" r:id="rId7"/>
    <p:sldLayoutId id="2147483729" r:id="rId8"/>
    <p:sldLayoutId id="2147483730" r:id="rId9"/>
    <p:sldLayoutId id="2147483731" r:id="rId10"/>
    <p:sldLayoutId id="21474837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3301E07F-4F79-4B58-8698-EF24DC1EC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91583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CA0ABCF-7DDF-E52E-7329-6466A2FE4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647593"/>
            <a:ext cx="4467792" cy="3060541"/>
          </a:xfrm>
        </p:spPr>
        <p:txBody>
          <a:bodyPr>
            <a:normAutofit/>
          </a:bodyPr>
          <a:lstStyle/>
          <a:p>
            <a:r>
              <a:rPr lang="pt-BR" sz="4800" dirty="0">
                <a:solidFill>
                  <a:schemeClr val="accent1">
                    <a:lumMod val="50000"/>
                  </a:schemeClr>
                </a:solidFill>
              </a:rPr>
              <a:t>Rota dos Consumidores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349643-100D-BAA1-D9E8-18D188778D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800209"/>
            <a:ext cx="4467792" cy="2410198"/>
          </a:xfrm>
        </p:spPr>
        <p:txBody>
          <a:bodyPr>
            <a:normAutofit/>
          </a:bodyPr>
          <a:lstStyle/>
          <a:p>
            <a:r>
              <a:rPr lang="pt-BR" sz="3600" dirty="0"/>
              <a:t>Resumo Executivo</a:t>
            </a:r>
            <a:endParaRPr lang="pt-BR" sz="3600" dirty="0">
              <a:solidFill>
                <a:srgbClr val="FFFFFF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EE6F773-742A-491A-9A00-A2A150DF5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9419" y="366810"/>
            <a:ext cx="6124381" cy="61243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3DF2731D-B7C3-1221-6E0D-35C6BA31E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3" r="2" b="4575"/>
          <a:stretch>
            <a:fillRect/>
          </a:stretch>
        </p:blipFill>
        <p:spPr>
          <a:xfrm>
            <a:off x="6151798" y="1497423"/>
            <a:ext cx="4252055" cy="3863154"/>
          </a:xfrm>
          <a:custGeom>
            <a:avLst/>
            <a:gdLst/>
            <a:ahLst/>
            <a:cxnLst/>
            <a:rect l="l" t="t" r="r" b="b"/>
            <a:pathLst>
              <a:path w="4273177" h="4470400">
                <a:moveTo>
                  <a:pt x="75080" y="0"/>
                </a:moveTo>
                <a:lnTo>
                  <a:pt x="4198097" y="0"/>
                </a:lnTo>
                <a:cubicBezTo>
                  <a:pt x="4239563" y="0"/>
                  <a:pt x="4273177" y="33614"/>
                  <a:pt x="4273177" y="75080"/>
                </a:cubicBezTo>
                <a:lnTo>
                  <a:pt x="4273177" y="4395320"/>
                </a:lnTo>
                <a:cubicBezTo>
                  <a:pt x="4273177" y="4436786"/>
                  <a:pt x="4239563" y="4470400"/>
                  <a:pt x="4198097" y="4470400"/>
                </a:cubicBezTo>
                <a:lnTo>
                  <a:pt x="75080" y="4470400"/>
                </a:lnTo>
                <a:cubicBezTo>
                  <a:pt x="33614" y="4470400"/>
                  <a:pt x="0" y="4436786"/>
                  <a:pt x="0" y="4395320"/>
                </a:cubicBezTo>
                <a:lnTo>
                  <a:pt x="0" y="75080"/>
                </a:lnTo>
                <a:cubicBezTo>
                  <a:pt x="0" y="33614"/>
                  <a:pt x="33614" y="0"/>
                  <a:pt x="7508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18617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8BEA1B1-BC54-03E3-0A83-BC887B9CD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FFFFFF"/>
                </a:solidFill>
              </a:rPr>
              <a:t>Rota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0B214E-3932-C261-66E9-2585D0E3E157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4436422" y="754630"/>
            <a:ext cx="6906491" cy="5585619"/>
          </a:xfrm>
        </p:spPr>
        <p:txBody>
          <a:bodyPr anchor="ctr">
            <a:normAutofit/>
          </a:bodyPr>
          <a:lstStyle/>
          <a:p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Hortifrúti (</a:t>
            </a:r>
            <a:r>
              <a:rPr lang="pt-BR" dirty="0" err="1">
                <a:solidFill>
                  <a:schemeClr val="accent1">
                    <a:lumMod val="50000"/>
                  </a:schemeClr>
                </a:solidFill>
              </a:rPr>
              <a:t>Produce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) é o ímã da plataforma.</a:t>
            </a:r>
          </a:p>
          <a:p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Compradores de Maçã Fuji têm uma propensão 88% maior de comprar Bananas.</a:t>
            </a:r>
          </a:p>
          <a:p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24,6% dos clientes que compram itens frescos migram imediatamente para Laticínios e Ovos.</a:t>
            </a:r>
          </a:p>
          <a:p>
            <a:endParaRPr lang="pt-BR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9416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8BD245E-EF41-EABC-7D1B-6D7BA454B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Plano de Validação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95109-C77B-1B20-937F-DFE82DA80221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LargePlainText"/>
                  </p202:designTagLst>
                </p202:designPr>
              </p:ext>
            </p:extLst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800" b="1" dirty="0">
                <a:solidFill>
                  <a:schemeClr val="accent1">
                    <a:lumMod val="50000"/>
                  </a:schemeClr>
                </a:solidFill>
              </a:rPr>
              <a:t>Otimização do Ticket Médio (</a:t>
            </a:r>
            <a:r>
              <a:rPr lang="pt-BR" sz="1800" b="1" dirty="0" err="1">
                <a:solidFill>
                  <a:schemeClr val="accent1">
                    <a:lumMod val="50000"/>
                  </a:schemeClr>
                </a:solidFill>
              </a:rPr>
              <a:t>Upselling</a:t>
            </a:r>
            <a:r>
              <a:rPr lang="pt-BR" sz="18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r>
              <a:rPr lang="pt-BR" sz="1800" dirty="0"/>
              <a:t>Hipótese: a recomendação de Bananas para quem adiciona Maçãs (alto </a:t>
            </a:r>
            <a:r>
              <a:rPr lang="pt-BR" sz="1800" dirty="0" err="1"/>
              <a:t>Lift</a:t>
            </a:r>
            <a:r>
              <a:rPr lang="pt-BR" sz="1800" dirty="0"/>
              <a:t>) reduz a fricção de compra e aumenta o número de itens por cesta.</a:t>
            </a:r>
          </a:p>
          <a:p>
            <a:r>
              <a:rPr lang="pt-BR" sz="1800" dirty="0"/>
              <a:t>Ação (Teste A/B): 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800" dirty="0"/>
              <a:t>Grupo A (Controle): recebe recomendações genéricas (</a:t>
            </a:r>
            <a:r>
              <a:rPr lang="pt-BR" sz="1800" dirty="0" err="1"/>
              <a:t>ex</a:t>
            </a:r>
            <a:r>
              <a:rPr lang="pt-BR" sz="1800" dirty="0"/>
              <a:t>: "Mais vendidos").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800" dirty="0"/>
              <a:t>Grupo B (Variante): recebe recomendação direta de Bananas logo após adicionar a Maçã.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800" dirty="0"/>
              <a:t>Métrica de Sucesso: aumento na taxa de conversão do item recomendado.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697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89D53-98D8-AFA3-C980-29425FB04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CC5C81A-EC27-C744-0D2C-01C1ECFDC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7A27602-CABA-8D48-B4E0-E433BD199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5FB36B-C60E-E872-F992-A172D9A74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Plano de Validação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27AAF1-715C-3A82-6695-CFD32FD7359C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LargePlainText"/>
                  </p202:designTagLst>
                </p202:designPr>
              </p:ext>
            </p:extLst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800" b="1" dirty="0">
                <a:solidFill>
                  <a:schemeClr val="accent1">
                    <a:lumMod val="50000"/>
                  </a:schemeClr>
                </a:solidFill>
              </a:rPr>
              <a:t>Conversão de Cesta</a:t>
            </a:r>
          </a:p>
          <a:p>
            <a:pPr marL="0" indent="0">
              <a:buNone/>
            </a:pPr>
            <a:r>
              <a:rPr lang="pt-BR" sz="1800" dirty="0"/>
              <a:t>Hipótese: clientes que iniciam a compra pelo Hortifrúti têm uma intenção de abastecimento básico. Sugerir Laticínios precocemente aumenta a probabilidade de fechamento da cesta completa na nossa plataforma.</a:t>
            </a:r>
          </a:p>
          <a:p>
            <a:pPr marL="0" indent="0">
              <a:buNone/>
            </a:pPr>
            <a:r>
              <a:rPr lang="pt-BR" sz="1800" dirty="0"/>
              <a:t>Ação (Teste A/B): 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800" dirty="0"/>
              <a:t>Grupo A (Controle): navegação livre entre departamentos.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800" dirty="0"/>
              <a:t>Grupo B (Variante): exibição de um banner ou "Atalho de Categoria" para Laticínios e Ovos assim que o segundo item de Hortifrúti é adicionado.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800" dirty="0"/>
              <a:t>Métrica de Sucesso: aumento na frequência de pedidos contendo as duas categorias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3026592-2827-7AAC-8D0C-1852CC3B2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001049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Gestalt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Festival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230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Aharoni</vt:lpstr>
      <vt:lpstr>Arial</vt:lpstr>
      <vt:lpstr>Avenir Next LT Pro</vt:lpstr>
      <vt:lpstr>Calibri</vt:lpstr>
      <vt:lpstr>ShapesVTI</vt:lpstr>
      <vt:lpstr>Rota dos Consumidores</vt:lpstr>
      <vt:lpstr>Rota</vt:lpstr>
      <vt:lpstr>Plano de Validação</vt:lpstr>
      <vt:lpstr>Plano de Validação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Josiane de Oliveira da Silva</dc:creator>
  <cp:lastModifiedBy>Josiane de Oliveira da Silva</cp:lastModifiedBy>
  <cp:revision>1</cp:revision>
  <dcterms:created xsi:type="dcterms:W3CDTF">2026-02-27T14:00:57Z</dcterms:created>
  <dcterms:modified xsi:type="dcterms:W3CDTF">2026-02-27T14:26:16Z</dcterms:modified>
</cp:coreProperties>
</file>